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Urbanist Medium"/>
      <p:regular r:id="rId24"/>
      <p:bold r:id="rId25"/>
      <p:italic r:id="rId26"/>
      <p:boldItalic r:id="rId27"/>
    </p:embeddedFont>
    <p:embeddedFont>
      <p:font typeface="Urbanist SemiBold"/>
      <p:regular r:id="rId28"/>
      <p:bold r:id="rId29"/>
      <p:italic r:id="rId30"/>
      <p:boldItalic r:id="rId31"/>
    </p:embeddedFont>
    <p:embeddedFont>
      <p:font typeface="Urbanis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0D14D8-B44A-4AD7-840D-803456149A0A}">
  <a:tblStyle styleId="{480D14D8-B44A-4AD7-840D-803456149A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UrbanistMedium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SemiBold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rbanistSemi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SemiBold-boldItalic.fntdata"/><Relationship Id="rId30" Type="http://schemas.openxmlformats.org/officeDocument/2006/relationships/font" Target="fonts/UrbanistSemiBold-italic.fntdata"/><Relationship Id="rId11" Type="http://schemas.openxmlformats.org/officeDocument/2006/relationships/slide" Target="slides/slide4.xml"/><Relationship Id="rId33" Type="http://schemas.openxmlformats.org/officeDocument/2006/relationships/font" Target="fonts/Urbanist-bold.fntdata"/><Relationship Id="rId10" Type="http://schemas.openxmlformats.org/officeDocument/2006/relationships/slide" Target="slides/slide3.xml"/><Relationship Id="rId32" Type="http://schemas.openxmlformats.org/officeDocument/2006/relationships/font" Target="fonts/Urbanist-regular.fntdata"/><Relationship Id="rId13" Type="http://schemas.openxmlformats.org/officeDocument/2006/relationships/slide" Target="slides/slide6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5.xml"/><Relationship Id="rId34" Type="http://schemas.openxmlformats.org/officeDocument/2006/relationships/font" Target="fonts/Urbanist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9f74f15a9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9f74f15a9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9f74f15a9_0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a9f74f15a9_0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9f74f15a9_0_2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9f74f15a9_0_2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9f74f15a9_0_2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a9f74f15a9_0_2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c78a8d5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ac78a8d5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c78a8d5a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ac78a8d5a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c78a8d5a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c78a8d5a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c78a8d5a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c78a8d5a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c78a8d5a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c78a8d5a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c78a8d5a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ac78a8d5a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c78a8d5a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ac78a8d5a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c78a8d5a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ac78a8d5a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ac78a8d5a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ac78a8d5a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ac78a8d5a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ac78a8d5a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c78a8d5a2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ac78a8d5a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ac78a8d5a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ac78a8d5a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3" name="Google Shape;483;p53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84" name="Google Shape;484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5" name="Google Shape;485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6" name="Google Shape;486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8" name="Google Shape;488;p5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Place Conflation Using Open-Source LLMs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9" name="Google Shape;489;p5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C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0" name="Google Shape;490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91" name="Google Shape;491;p5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92" name="Google Shape;492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93" name="Google Shape;493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Jackie  Fu</a:t>
            </a:r>
            <a:endParaRPr/>
          </a:p>
        </p:txBody>
      </p:sp>
      <p:sp>
        <p:nvSpPr>
          <p:cNvPr id="494" name="Google Shape;494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</a:t>
            </a:r>
            <a:r>
              <a:rPr lang="en"/>
              <a:t> /  </a:t>
            </a:r>
            <a:r>
              <a:rPr lang="en"/>
              <a:t>November</a:t>
            </a:r>
            <a:r>
              <a:rPr lang="en"/>
              <a:t>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by: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Models: Qwen2-7B FT, Qwen3-4B FT,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Qwen3-4B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Zero-Shot,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Qwen3-1.7B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Zero-Shot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502" name="Google Shape;502;p54"/>
          <p:cNvSpPr txBox="1"/>
          <p:nvPr>
            <p:ph idx="2" type="body"/>
          </p:nvPr>
        </p:nvSpPr>
        <p:spPr>
          <a:xfrm>
            <a:off x="4960875" y="228600"/>
            <a:ext cx="3837000" cy="468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Overture Maps receives millions of POI entries from different sources.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Many records refer to the same physical place, but with conflicting details (name/address/phone).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My Goal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Evaluate open-source LLMs to determine: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Which model provides the best accuracy + AUC + latency trade-off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Under realistic settings (fine-tuned vs zero-shot)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idx="19" type="title"/>
          </p:nvPr>
        </p:nvSpPr>
        <p:spPr>
          <a:xfrm>
            <a:off x="228600" y="613525"/>
            <a:ext cx="39045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Project C — OKR Summary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55"/>
          <p:cNvSpPr txBox="1"/>
          <p:nvPr>
            <p:ph idx="4" type="subTitle"/>
          </p:nvPr>
        </p:nvSpPr>
        <p:spPr>
          <a:xfrm>
            <a:off x="210225" y="945050"/>
            <a:ext cx="8594100" cy="4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and compare multiple open-source Large Language Models (LLMs) for resolving duplicate place records using Overture’s 3K labeled dataset, identifying the most accurate and cost-efficient conflation approach.</a:t>
            </a:r>
            <a:endParaRPr/>
          </a:p>
        </p:txBody>
      </p:sp>
      <p:sp>
        <p:nvSpPr>
          <p:cNvPr id="509" name="Google Shape;509;p55"/>
          <p:cNvSpPr txBox="1"/>
          <p:nvPr>
            <p:ph type="title"/>
          </p:nvPr>
        </p:nvSpPr>
        <p:spPr>
          <a:xfrm>
            <a:off x="355225" y="1775475"/>
            <a:ext cx="1862100" cy="204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KR1</a:t>
            </a:r>
            <a:endParaRPr/>
          </a:p>
        </p:txBody>
      </p:sp>
      <p:sp>
        <p:nvSpPr>
          <p:cNvPr id="510" name="Google Shape;510;p55"/>
          <p:cNvSpPr txBox="1"/>
          <p:nvPr>
            <p:ph idx="6" type="body"/>
          </p:nvPr>
        </p:nvSpPr>
        <p:spPr>
          <a:xfrm>
            <a:off x="278250" y="2068575"/>
            <a:ext cx="2876400" cy="2529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Completed full preprocessing + cleaning of Overture 3K dataset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Created 70/10/20 stratified split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Built reproducible evaluation pipeline with: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Accuracy, Precision, Recall, F1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AUC-ROC, PR-AUC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Latency per 1,000 predictions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Automated metric visualization (confusion matrix, ROC, PR curves)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55"/>
          <p:cNvSpPr txBox="1"/>
          <p:nvPr>
            <p:ph idx="7" type="title"/>
          </p:nvPr>
        </p:nvSpPr>
        <p:spPr>
          <a:xfrm>
            <a:off x="3402625" y="1748850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KR2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55"/>
          <p:cNvSpPr txBox="1"/>
          <p:nvPr>
            <p:ph idx="9" type="body"/>
          </p:nvPr>
        </p:nvSpPr>
        <p:spPr>
          <a:xfrm>
            <a:off x="3402625" y="2094600"/>
            <a:ext cx="2972700" cy="299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4 model configurations: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Qwen2-7B-Instruct (FT) — completed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Qwen3-4B-Instruct (Zero-Shot) — completed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Qwen3-4B-Instruct (FT) — completed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Qwen3-1.7B Zero-Shot — completed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goals: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≥1,000 predictions evaluated/model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QLoRA hyperparameters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Performance targets (met or exceeded):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≥ 0.80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AUC ≥ 0.85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&lt; 3s/query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55"/>
          <p:cNvSpPr txBox="1"/>
          <p:nvPr>
            <p:ph idx="13" type="title"/>
          </p:nvPr>
        </p:nvSpPr>
        <p:spPr>
          <a:xfrm>
            <a:off x="6503700" y="1748850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KR3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55"/>
          <p:cNvSpPr txBox="1"/>
          <p:nvPr>
            <p:ph idx="15" type="body"/>
          </p:nvPr>
        </p:nvSpPr>
        <p:spPr>
          <a:xfrm>
            <a:off x="6503700" y="2094600"/>
            <a:ext cx="2411700" cy="299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Built summary tables comparing: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Accuracy/Precision/Recall/F1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AUC-ROC, PR-AUC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Latency per 1,000 samples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Produced ROC/PR curves for all models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Conducted error analysis on ≥10 representative pairs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>
            <p:ph idx="4294967295" type="title"/>
          </p:nvPr>
        </p:nvSpPr>
        <p:spPr>
          <a:xfrm>
            <a:off x="228600" y="395043"/>
            <a:ext cx="6480300" cy="5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&amp; Methodology</a:t>
            </a:r>
            <a:endParaRPr/>
          </a:p>
        </p:txBody>
      </p:sp>
      <p:sp>
        <p:nvSpPr>
          <p:cNvPr id="520" name="Google Shape;520;p56"/>
          <p:cNvSpPr txBox="1"/>
          <p:nvPr>
            <p:ph idx="3" type="subTitle"/>
          </p:nvPr>
        </p:nvSpPr>
        <p:spPr>
          <a:xfrm>
            <a:off x="483175" y="1336150"/>
            <a:ext cx="2455500" cy="5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Dataset Pipeline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56"/>
          <p:cNvSpPr txBox="1"/>
          <p:nvPr>
            <p:ph idx="4" type="subTitle"/>
          </p:nvPr>
        </p:nvSpPr>
        <p:spPr>
          <a:xfrm>
            <a:off x="3347725" y="1336150"/>
            <a:ext cx="2455500" cy="5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Modeling Approach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56"/>
          <p:cNvSpPr txBox="1"/>
          <p:nvPr>
            <p:ph idx="2" type="body"/>
          </p:nvPr>
        </p:nvSpPr>
        <p:spPr>
          <a:xfrm>
            <a:off x="3347725" y="1971850"/>
            <a:ext cx="2455500" cy="28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QLoRA fine-tuning for 7B and 4B models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Unified evaluation script: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○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Hard labels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○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Token-level YES/NO probability for AUC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○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ROC/PR curves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○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Latency profiling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56"/>
          <p:cNvSpPr txBox="1"/>
          <p:nvPr>
            <p:ph idx="5" type="subTitle"/>
          </p:nvPr>
        </p:nvSpPr>
        <p:spPr>
          <a:xfrm>
            <a:off x="6212275" y="1336150"/>
            <a:ext cx="2455500" cy="5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Trade-offs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56"/>
          <p:cNvSpPr txBox="1"/>
          <p:nvPr>
            <p:ph idx="6" type="body"/>
          </p:nvPr>
        </p:nvSpPr>
        <p:spPr>
          <a:xfrm>
            <a:off x="6212275" y="1971850"/>
            <a:ext cx="2455500" cy="28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7B: Higher accuracy, slower latency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4B: Slightly lower accuracy, faster inference (better cost/performance)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56"/>
          <p:cNvSpPr txBox="1"/>
          <p:nvPr>
            <p:ph idx="2" type="body"/>
          </p:nvPr>
        </p:nvSpPr>
        <p:spPr>
          <a:xfrm>
            <a:off x="483175" y="1971850"/>
            <a:ext cx="2455500" cy="28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Clean raw Overture parquet → CSV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Extract: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○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name, category, address, website, phone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Convert to SFT JSONL (train/val/test)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Apply A/B reversible augmentation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- My Step 1-</a:t>
            </a:r>
            <a:r>
              <a:rPr lang="en"/>
              <a:t>data clean and convert</a:t>
            </a:r>
            <a:endParaRPr/>
          </a:p>
        </p:txBody>
      </p:sp>
      <p:pic>
        <p:nvPicPr>
          <p:cNvPr id="531" name="Google Shape;53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5250"/>
            <a:ext cx="6082349" cy="32040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7"/>
          <p:cNvSpPr txBox="1"/>
          <p:nvPr/>
        </p:nvSpPr>
        <p:spPr>
          <a:xfrm>
            <a:off x="6674775" y="1212625"/>
            <a:ext cx="2299200" cy="3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I clean the dataset; remove unnecessary columns with a lot of empty strings from the source dataset, and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for the rest data set that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- My Step 2-data split and 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8" name="Google Shape;5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7225"/>
            <a:ext cx="2801699" cy="1920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9500" y="1047225"/>
            <a:ext cx="3084134" cy="192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8"/>
          <p:cNvSpPr txBox="1"/>
          <p:nvPr/>
        </p:nvSpPr>
        <p:spPr>
          <a:xfrm>
            <a:off x="397800" y="3618625"/>
            <a:ext cx="28017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I wrote a Python file called `make_sft_jsonl.py` to split the dataset for test, training, and evaluating. I also packaged the data into a suitable JSON format with prompt words.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1" name="Google Shape;54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9500" y="3337800"/>
            <a:ext cx="5456349" cy="11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- My Step 3 - zero shot model-Qwen3 4b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7" name="Google Shape;54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50" y="1071200"/>
            <a:ext cx="8839199" cy="189464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9"/>
          <p:cNvSpPr txBox="1"/>
          <p:nvPr/>
        </p:nvSpPr>
        <p:spPr>
          <a:xfrm>
            <a:off x="173225" y="3071425"/>
            <a:ext cx="56568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“This example shows how the zero-shot Qwen3-4B model performs on a real place-pair.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two Domino’s records, the model predicts NO, correctly identifying that they refer to different locations.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case, the model’s reasoning is correct — the addresses and phone numbers differ significantly, and the gold label is also NO.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also assigns a very low YES probability (0.00059), showing high confidence.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serves as a baseline before fine-tuning, helping us compare how model performance improves after training.”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- My Step 3 - Qwen3 4b Error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4" name="Google Shape;55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163602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0"/>
          <p:cNvSpPr txBox="1"/>
          <p:nvPr/>
        </p:nvSpPr>
        <p:spPr>
          <a:xfrm>
            <a:off x="290850" y="3490300"/>
            <a:ext cx="69615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“This example shows a case where the zero-shot Qwen3-4B model predicts incorrectly.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both records clearly refer to The Bristol Hotel at slightly different address formats, the model outputs NO, while the gold label is YES.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assigns only 0.066 probability to ‘YES’, meaning it fails to recognize these as the same place.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highlights the limitations of zero-shot and demonstrates why fine-tuning is necessary for higher accuracy.”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1"/>
          <p:cNvSpPr txBox="1"/>
          <p:nvPr>
            <p:ph type="title"/>
          </p:nvPr>
        </p:nvSpPr>
        <p:spPr>
          <a:xfrm>
            <a:off x="311700" y="22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- My Step 3 - Qwen 3 4b Result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1" name="Google Shape;56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2750"/>
            <a:ext cx="2770338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1" title="qwen3_4b_pr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3301" y="913326"/>
            <a:ext cx="2926050" cy="219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1" title="qwen3_4b_roc_curv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900" y="913299"/>
            <a:ext cx="2926050" cy="2194517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61"/>
          <p:cNvSpPr txBox="1"/>
          <p:nvPr/>
        </p:nvSpPr>
        <p:spPr>
          <a:xfrm>
            <a:off x="3231525" y="3337800"/>
            <a:ext cx="5753100" cy="16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“This is shows the performance of the zero-shot Qwen3-4B model on the test set.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any fine-tuning, the model reaches around 72% accuracy and an F1-score of 0.78.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ranking metrics, including ROC-AUC of 0.79 and PR-AUC of 0.83, show moderate discriminative ability.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results establish a meaningful baseline, but also highlight the limitations of zero-shot performance on place conflation—especially compared to the much stronger fine-tuned models shown later.”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- My Step 4 - FT model-Qwen3 4b</a:t>
            </a:r>
            <a:endParaRPr/>
          </a:p>
        </p:txBody>
      </p:sp>
      <p:pic>
        <p:nvPicPr>
          <p:cNvPr id="570" name="Google Shape;5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34494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2"/>
          <p:cNvSpPr txBox="1"/>
          <p:nvPr/>
        </p:nvSpPr>
        <p:spPr>
          <a:xfrm>
            <a:off x="237400" y="3725550"/>
            <a:ext cx="59562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“This example shows how the fine-tuned Qwen3-4B model performs on the same pair where the zero-shot model failed.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After training, the model correctly predicts YES, matching the gold label, and assigns a very high confidence of 0.9955.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demonstrates how fine-tuning dramatically improves the model’s ability to recognize real-world place equivalence.”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3"/>
          <p:cNvSpPr txBox="1"/>
          <p:nvPr>
            <p:ph type="title"/>
          </p:nvPr>
        </p:nvSpPr>
        <p:spPr>
          <a:xfrm>
            <a:off x="358650" y="22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Demo-My Step 4-Qwen 3 4b FT Result Overview</a:t>
            </a:r>
            <a:endParaRPr/>
          </a:p>
        </p:txBody>
      </p:sp>
      <p:pic>
        <p:nvPicPr>
          <p:cNvPr id="577" name="Google Shape;577;p63"/>
          <p:cNvPicPr preferRelativeResize="0"/>
          <p:nvPr/>
        </p:nvPicPr>
        <p:blipFill rotWithShape="1">
          <a:blip r:embed="rId3">
            <a:alphaModFix/>
          </a:blip>
          <a:srcRect b="0" l="0" r="21537" t="0"/>
          <a:stretch/>
        </p:blipFill>
        <p:spPr>
          <a:xfrm>
            <a:off x="228600" y="934875"/>
            <a:ext cx="292604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63" title="qwen3_4b_ft_pr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8400" y="934875"/>
            <a:ext cx="2875875" cy="21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3" title="qwen3_4b_ft_roc_curv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4275" y="934875"/>
            <a:ext cx="2875875" cy="2156912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3"/>
          <p:cNvSpPr txBox="1"/>
          <p:nvPr/>
        </p:nvSpPr>
        <p:spPr>
          <a:xfrm>
            <a:off x="3381225" y="3244350"/>
            <a:ext cx="55341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“This is shows the performance of the fine-tuned Qwen3-4B model.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training on the Overture dataset, the model achieves 91.6% accuracy and an F1-score of 0.93, which is a significant improvement over the zero-shot baseline.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ranking metrics are also extremely strong, with ROC-AUC of 0.9755 and PR-AUC of 0.9833, indicating excellent ability to distinguish matching versus non-matching place pairs.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is also efficient, with an average latency of just 0.21 seconds per sample, making it a practical option for scalable conflation.”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4"/>
          <p:cNvSpPr txBox="1"/>
          <p:nvPr>
            <p:ph type="title"/>
          </p:nvPr>
        </p:nvSpPr>
        <p:spPr>
          <a:xfrm>
            <a:off x="203550" y="273950"/>
            <a:ext cx="894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Demo-Qwen3 1.7b Zero Shot Result Overview</a:t>
            </a:r>
            <a:endParaRPr/>
          </a:p>
        </p:txBody>
      </p:sp>
      <p:pic>
        <p:nvPicPr>
          <p:cNvPr id="586" name="Google Shape;58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17725"/>
            <a:ext cx="266786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4" title="qwen3_1_7b_pr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9435" y="1017725"/>
            <a:ext cx="3091250" cy="23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64" title="qwen3_1_7b_roc_curv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687" y="1017725"/>
            <a:ext cx="3091275" cy="2318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64"/>
          <p:cNvSpPr txBox="1"/>
          <p:nvPr/>
        </p:nvSpPr>
        <p:spPr>
          <a:xfrm>
            <a:off x="3081825" y="3447525"/>
            <a:ext cx="57210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“This is shows performance of the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zero-shot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 Qwen3-1.7B model.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it wasn’t fine-tuned on the Overture dataset, its accuracy is only 60%, Precision is 60% and Recall is 99.3% with an F1 around 0.75.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the result shows that the Qwen3-1.7B model tends to say ‘YES’ almost all the time, regardless of the actual ground truth.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the model was too small and not fine-tuned at all, it doesn’t understand the structure of Overture place records, so it over-predicts matches and performs poorly on both ROC and PR curves."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"/>
          <p:cNvSpPr txBox="1"/>
          <p:nvPr>
            <p:ph type="title"/>
          </p:nvPr>
        </p:nvSpPr>
        <p:spPr>
          <a:xfrm>
            <a:off x="228600" y="228600"/>
            <a:ext cx="89154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Demo-Qwen2 7b FT Result Overview</a:t>
            </a:r>
            <a:endParaRPr/>
          </a:p>
        </p:txBody>
      </p:sp>
      <p:pic>
        <p:nvPicPr>
          <p:cNvPr id="595" name="Google Shape;59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25" y="811625"/>
            <a:ext cx="2676687" cy="387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5" title="qwen2_7b_ft_pr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4150" y="883750"/>
            <a:ext cx="3015174" cy="226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5" title="qwen2_7b_ft_roc_curv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7175" y="883750"/>
            <a:ext cx="3015166" cy="22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5"/>
          <p:cNvSpPr txBox="1"/>
          <p:nvPr/>
        </p:nvSpPr>
        <p:spPr>
          <a:xfrm>
            <a:off x="3063300" y="3337800"/>
            <a:ext cx="53253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“These results show that the fine-tuned Qwen2-7B model performs extremely well on this task.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achieves high accuracy (91.75%), and high F1(93.16%) with ROC-AUC 0.9763 and PR-AUC 0.9837, meaning the model can reliably distinguish matching vs. non-matching place records.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confirms that fine-tuning significantly boosts model understanding, producing stable and highly accurate predictions.”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 </a:t>
            </a:r>
            <a:r>
              <a:rPr lang="en"/>
              <a:t>Quick</a:t>
            </a:r>
            <a:r>
              <a:rPr lang="en"/>
              <a:t> S</a:t>
            </a:r>
            <a:r>
              <a:rPr lang="en"/>
              <a:t>napshot</a:t>
            </a:r>
            <a:r>
              <a:rPr lang="en"/>
              <a:t> Sheet</a:t>
            </a:r>
            <a:endParaRPr/>
          </a:p>
        </p:txBody>
      </p:sp>
      <p:graphicFrame>
        <p:nvGraphicFramePr>
          <p:cNvPr id="604" name="Google Shape;604;p66"/>
          <p:cNvGraphicFramePr/>
          <p:nvPr/>
        </p:nvGraphicFramePr>
        <p:xfrm>
          <a:off x="424950" y="135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{480D14D8-B44A-4AD7-840D-803456149A0A}</a:tableStyleId>
              </a:tblPr>
              <a:tblGrid>
                <a:gridCol w="804325"/>
                <a:gridCol w="893350"/>
                <a:gridCol w="758075"/>
                <a:gridCol w="761550"/>
                <a:gridCol w="804325"/>
                <a:gridCol w="921950"/>
                <a:gridCol w="823975"/>
                <a:gridCol w="934400"/>
                <a:gridCol w="1498225"/>
              </a:tblGrid>
              <a:tr h="47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Model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Setting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Recall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F1-score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AUC-ROC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PR-AUC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Latency (s/sample)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Notes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Qwen-2 7B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Fine-tuned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0.9175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0.9361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0.9316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0.9763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0.9837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0.2918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Highest accuracy; very strong baseline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Qwen-3 4B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Fine-tuned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0.9158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0.9222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0.9293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0.9755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0.9833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0.2146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Best speed/performance trade-off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Qwen-3 4B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Zero-shot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0.7288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0.8458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0.7838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0.7892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0.8286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0.1539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Strongest zero-shot baseline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Qwen-3 1.7B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Zero-shot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0.6008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0.9917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0.7488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0.5820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0.6528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0.0862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Poor performance → not used for FT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610" name="Google Shape;610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project helped me understand how different model sizes and training strategies affect place-matching performance. Fine-tuned models gave strong, reliable results, while small zero-shot models showed bias and inconsistency.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If I could improve anything, I would refine the dataset and explore better-balanced samples. Stakeholder feedback also reminded me to focus on clarity, reliability, and real-world usability.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For future work, I hope to test larger distilled models, try embedding-based methods, and explore deployment options for real-time workflows.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8"/>
          <p:cNvSpPr txBox="1"/>
          <p:nvPr/>
        </p:nvSpPr>
        <p:spPr>
          <a:xfrm>
            <a:off x="647550" y="1609350"/>
            <a:ext cx="7848900" cy="1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9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